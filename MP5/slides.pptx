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MP5 </a:t>
            </a:r>
            <a:r>
              <a:rPr dirty="0" err="1"/>
              <a:t>MiniClaw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BBDEFB"/>
                </a:solidFill>
                <a:latin typeface="Calibri"/>
              </a:defRPr>
            </a:pPr>
            <a:r>
              <a:t>From Wrong Requirements to Honest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90CAF9"/>
                </a:solidFill>
                <a:latin typeface="Calibri"/>
              </a:defRPr>
            </a:pPr>
            <a:r>
              <a:t>David Ricciotti  •  Haben Berhe  •  Yoel Tesfatsion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890A0"/>
                </a:solidFill>
                <a:latin typeface="Calibri"/>
              </a:defRPr>
            </a:pPr>
            <a:r>
              <a:rPr dirty="0"/>
              <a:t>ME 493B  |  </a:t>
            </a:r>
            <a:r>
              <a:rPr dirty="0" err="1"/>
              <a:t>RobotExpo</a:t>
            </a:r>
            <a:r>
              <a:rPr dirty="0"/>
              <a:t> 2026  |  ACME Robotics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DEFB"/>
                </a:solidFill>
                <a:latin typeface="Calibri"/>
              </a:defRPr>
            </a:pPr>
            <a:r>
              <a:rPr dirty="0"/>
              <a:t>What Jordan asked us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4067" y="1554480"/>
            <a:ext cx="542713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3A5C"/>
                </a:solidFill>
                <a:latin typeface="Calibri"/>
              </a:defRPr>
            </a:pPr>
            <a:r>
              <a:rPr dirty="0"/>
              <a:t>Jordan Chen Design Brief — MP1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4067" y="2186067"/>
            <a:ext cx="5621867" cy="3857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Compete with </a:t>
            </a:r>
            <a:r>
              <a:rPr dirty="0" err="1"/>
              <a:t>Hiwonder's</a:t>
            </a:r>
            <a:r>
              <a:rPr dirty="0"/>
              <a:t> </a:t>
            </a:r>
            <a:r>
              <a:rPr dirty="0" err="1"/>
              <a:t>BigClaw</a:t>
            </a:r>
            <a:r>
              <a:rPr dirty="0"/>
              <a:t> at </a:t>
            </a:r>
            <a:r>
              <a:rPr dirty="0" err="1"/>
              <a:t>RobotExpo</a:t>
            </a:r>
            <a:r>
              <a:rPr dirty="0"/>
              <a:t> 2026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Envelope: 92 × 46 × 55 mm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Jaw opening: ≥ 40 mm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Thumb-wheel turns: 2–3 from open to closed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Grip force: 5–8 N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Material: FDM PLA (Prusa MK4S)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Part count: &lt; 15 parts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Cost: &lt; $3/unit at 500-unit scale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828800"/>
            <a:ext cx="5029200" cy="32004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20116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666666"/>
                </a:solidFill>
                <a:latin typeface="Calibri"/>
              </a:defRPr>
            </a:pPr>
            <a:r>
              <a:t>"The BigClaw outsells us 3-to-1. Your MiniClaw needs to match its jaw range in half the volume."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4114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— Jordan Chen, Engineering Manager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Where We Ended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DEFB"/>
                </a:solidFill>
                <a:latin typeface="Calibri"/>
              </a:defRPr>
            </a:pPr>
            <a:r>
              <a:t>Final MiniClaw design vs. MP1 targets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515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782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Specification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MP1 Target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Final Design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Jaw opening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≥ 40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40.13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Envelope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92 × 46 × 55 mm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92 × 46 × 55 mm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Thumb-wheel turns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2–3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Renegotiated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Gear stress SF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≥ 2.0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2.14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Part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&lt;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Over target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7832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Trans. angle margin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&gt; 0° above 40°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21.3° margin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Renegotiation 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GOAL &amp;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rPr dirty="0"/>
              <a:t>Why we accepted 0.28 turns instead of 2–3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5029200" cy="3840480"/>
          </a:xfrm>
          <a:prstGeom prst="rect">
            <a:avLst/>
          </a:prstGeom>
          <a:solidFill>
            <a:srgbClr val="F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Calibri"/>
              </a:defRPr>
            </a:pPr>
            <a:r>
              <a:t>Architecture B (compound spur)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 = 16 → 1.24 thumb-wheel turns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Center distance: 126 mm total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Exceeds 92 mm housing by 34 mm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Part count: 29 (5 gears)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Packaging: DOES NOT FIT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286000"/>
            <a:ext cx="5029200" cy="384048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7AE60"/>
                </a:solidFill>
                <a:latin typeface="Calibri"/>
              </a:defRPr>
            </a:pPr>
            <a:r>
              <a:t>Architecture A (single spur pair)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9260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 = 1 → 0.28 thumb-wheel turns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Center distance: 20 mm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Fits easily in 92 mm housing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Part count: 25 (2 gears)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Packaging: SOLVED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When Context Was Missing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CONTEXT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Calibri"/>
              </a:defRPr>
            </a:pPr>
            <a:r>
              <a:rPr dirty="0"/>
              <a:t>One document upload corrected the entire design basis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286000"/>
          <a:ext cx="6400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5216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AI Without Context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After MP1 Brief Upload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Jaw opening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25 mm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Input range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0°–46°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0°–28°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Link lengths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L1=40, L2=20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L1=12, L2=26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Displacement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20.3 mm/side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12.5 mm/side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0" y="2286000"/>
            <a:ext cx="3931920" cy="29260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79" y="24688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39C12"/>
                </a:solidFill>
                <a:latin typeface="Calibri"/>
              </a:defRPr>
            </a:pPr>
            <a:r>
              <a:t>Lesson learned: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301752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  <a:r>
              <a:t>The AI will confidently build on wrong assumptions if you don't provide the requirements document. Context management isn't optional.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Also missing: Haben's repo was private (403) until made public. Yoel's MP4 Part A was never submitted.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Our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TOOLS &amp; INTEGRATION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5156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Used For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Devin (Cognition AI)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Part A notebooks, Part B templates, plots, stress analysis, 12+ PRs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GitHub Copilot (agent)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Haben's Part A, David's MP3 gear CAD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MiniClaw Gear DFM Skill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Yoel's MCP RAG server + ACME corpus (ACME-ENG-001, MFG-002)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matplotlib / numpy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Comparison plots, linkage simulation, drive-train sketch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GitHub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Version control, code review, team integration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53949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rPr dirty="0"/>
              <a:t>Live demo coming up: animated four-bar simulation + </a:t>
            </a:r>
            <a:r>
              <a:rPr dirty="0" err="1"/>
              <a:t>compute_transmission_angle</a:t>
            </a:r>
            <a:r>
              <a:rPr dirty="0"/>
              <a:t>() on perturbed geometry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Pin Clearance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CENTAUR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Calibri"/>
              </a:defRPr>
            </a:pPr>
            <a:r>
              <a:t>Human × AI = something neither would have produced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Calibri"/>
              </a:defRPr>
            </a:pPr>
            <a:r>
              <a:t>David asked: "What bore diameter gives a reliable sliding fit after FDM tolerance?"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83464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Bore Ø (mm)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Designed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FDM Offset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Post-FDM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−0.20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INTERFERENCE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0.30 mm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−0.20 mm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0.10 mm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Tight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−0.20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RELIABLE FIT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5394960"/>
            <a:ext cx="5029200" cy="9144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Human: FDM tolerance data from MP1</a:t>
            </a:r>
            <a:br/>
            <a:r>
              <a:t>AI: systematic clearance stack calculation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394960"/>
            <a:ext cx="5029200" cy="9144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54864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Result: bore increased to Ø3.40 mm across</a:t>
            </a:r>
            <a:br/>
            <a:r>
              <a:t>all 10 joints. No reaming needed.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Wrong-AI Moment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EVALUATION &amp; TRUST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3566160" cy="4389120"/>
          </a:xfrm>
          <a:prstGeom prst="rect">
            <a:avLst/>
          </a:prstGeom>
          <a:solidFill>
            <a:srgbClr val="F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  <a:latin typeface="Calibri"/>
              </a:defRPr>
            </a:pPr>
            <a:r>
              <a:t>What the AI claimed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Designed David's linkage targeting:</a:t>
            </a:r>
            <a:br/>
            <a:br/>
            <a:r>
              <a:t>• 40 mm jaw opening</a:t>
            </a:r>
            <a:br/>
            <a:r>
              <a:t>• 0°–46° input range</a:t>
            </a:r>
            <a:br/>
            <a:r>
              <a:t>• L1=40, L2=20 link lengths</a:t>
            </a:r>
            <a:br/>
            <a:br/>
            <a:r>
              <a:t>Complete design with position equations, transmission angle analysis, motion plots, and hand calculations.</a:t>
            </a:r>
            <a:br/>
            <a:br/>
            <a:r>
              <a:t>Everything checked out internally.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554480"/>
            <a:ext cx="3566160" cy="43891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80560" y="1645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7AE60"/>
                </a:solidFill>
                <a:latin typeface="Calibri"/>
              </a:defRPr>
            </a:pPr>
            <a:r>
              <a:t>What was actually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19456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David's MP1 brief specified:</a:t>
            </a:r>
            <a:br/>
            <a:br/>
            <a:r>
              <a:t>• 25 mm jaw opening</a:t>
            </a:r>
            <a:br/>
            <a:r>
              <a:t>• 0°–28° input range</a:t>
            </a:r>
            <a:br/>
            <a:r>
              <a:t>• L1=12, L2=26 link lengths</a:t>
            </a:r>
            <a:br/>
            <a:br/>
            <a:r>
              <a:t>The AI had never seen the MP1 requirements document. It guessed the specs and built a plausible-looking but wrong design.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554480"/>
            <a:ext cx="3566160" cy="43891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645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How we caught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19456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David compared the AI's output against his original design brief.</a:t>
            </a:r>
            <a:br/>
            <a:br/>
            <a:r>
              <a:t>The numbers didn't match.</a:t>
            </a:r>
            <a:br/>
            <a:br/>
            <a:r>
              <a:t>One document upload fixed everything.</a:t>
            </a:r>
            <a:br/>
            <a:br/>
            <a:r>
              <a:t>Mechanism: the human knew the requirements. The AI didn't.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3333" y="6144768"/>
            <a:ext cx="113148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dirty="0"/>
              <a:t>Context management isn't optional — it's the difference between a correct design and a plausible-looking wrong 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Per-Subsystem Trust Assessment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EVALUATION &amp; TRUST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5448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782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Subsystem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Flag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Print Tomorrow?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Issue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 Linkage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Needs 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Strongest analytically (3-path verified)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2. Drive Train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Needs work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SF = 2.14, but 0.28 turns untested ergonomically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 Jaw Arms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CAD exists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 Housing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Unknown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CAD exists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5. Input Wheel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CAD exists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7832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 Pins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Needs work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Ø3.40 bore designed; test one joint first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760720"/>
            <a:ext cx="11247120" cy="7315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5806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  <a:latin typeface="Calibri"/>
              </a:defRPr>
            </a:pPr>
            <a:r>
              <a:t>Bottom line: Not ready to print a complete gripper. Three subsystems are analytically solid; three have no CAD. This is an honest assessment.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We'd Do Differently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10515600" cy="2286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1. Shared team repo from 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Calibri"/>
              </a:defRPr>
            </a:pPr>
            <a:r>
              <a:t>Cross-repo integration (cloning Haben's private repo, cloning Yoel's repo, extracting parameters) added friction. A single shared workspace from the start would have eliminated the 403 errors, the manual data extraction, and the integration PRs.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389120"/>
            <a:ext cx="10515600" cy="18288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7AE60"/>
                </a:solidFill>
                <a:latin typeface="Calibri"/>
              </a:defRPr>
            </a:pPr>
            <a:r>
              <a:t>2. Build the MCP tool call earlier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Calibri"/>
              </a:defRPr>
            </a:pPr>
            <a:r>
              <a:t>Having compute_transmission_angle() live during linkage selection (Loop 1) would have made the comparison interactive instead of static. The tool we demo today should have existed in Week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DEFB"/>
                </a:solidFill>
                <a:latin typeface="Calibri"/>
              </a:defRPr>
            </a:pPr>
            <a:r>
              <a:t>Yoel Tesfatsion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Part 1: Dynamic Simulation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Haben's four-bar linkage sweeping −50° to +50°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Jaw opening from 0 to 40 mm and back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Transmission angle staying in workable band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Real-time data display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rPr dirty="0"/>
              <a:t>Part 2: Live Tool 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 err="1"/>
              <a:t>compute_transmission_angle</a:t>
            </a:r>
            <a:r>
              <a:rPr dirty="0"/>
              <a:t>(L3=32)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vs. our design (L3=29)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Shows angle drops with 3 mm change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Tool catches bad geometry instantly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029200" cy="4389120"/>
          </a:xfrm>
          <a:prstGeom prst="rect">
            <a:avLst/>
          </a:prstGeom>
          <a:solidFill>
            <a:srgbClr val="263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CAF50"/>
                </a:solidFill>
                <a:latin typeface="Courier New"/>
              </a:defRPr>
            </a:pPr>
            <a:r>
              <a:t>$ 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46888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CAF50"/>
                </a:solidFill>
                <a:latin typeface="Courier New"/>
              </a:defRPr>
            </a:pPr>
            <a:r>
              <a:rPr dirty="0"/>
              <a:t>$ python3 linkage_simulation.py</a:t>
            </a:r>
            <a:br>
              <a:rPr dirty="0"/>
            </a:br>
            <a:br>
              <a:rPr dirty="0"/>
            </a:br>
            <a:r>
              <a:rPr dirty="0"/>
              <a:t>$ python3 transmission_angle_check.py</a:t>
            </a:r>
            <a:br>
              <a:rPr dirty="0"/>
            </a:br>
            <a:br>
              <a:rPr dirty="0"/>
            </a:br>
            <a:r>
              <a:rPr dirty="0"/>
              <a:t>--- Haben's design ---</a:t>
            </a:r>
            <a:br>
              <a:rPr dirty="0"/>
            </a:br>
            <a:r>
              <a:rPr dirty="0"/>
              <a:t>  μ range:  61.3° – 91.3°</a:t>
            </a:r>
            <a:br>
              <a:rPr dirty="0"/>
            </a:br>
            <a:r>
              <a:rPr dirty="0"/>
              <a:t>  Margin:   21.3° above 40°</a:t>
            </a:r>
            <a:br>
              <a:rPr dirty="0"/>
            </a:br>
            <a:br>
              <a:rPr dirty="0"/>
            </a:br>
            <a:r>
              <a:rPr dirty="0"/>
              <a:t>--- Perturbed: L3=32 ---</a:t>
            </a:r>
            <a:br>
              <a:rPr dirty="0"/>
            </a:br>
            <a:r>
              <a:rPr dirty="0"/>
              <a:t>  μ range:  56.0° – 84.1°</a:t>
            </a:r>
            <a:br>
              <a:rPr dirty="0"/>
            </a:br>
            <a:r>
              <a:rPr dirty="0"/>
              <a:t>  Margin:   16.0° above 40°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0" y="2011680"/>
          <a:ext cx="57607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Pillar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Answerer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Goal &amp; 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David Ricciotti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Context Management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Haben Berhe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Tools &amp;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Yoel Tesfatsion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Centaur Engineering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Haben Berhe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Evaluation &amp; Trust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David Ricciotti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3A5C"/>
                </a:solidFill>
                <a:latin typeface="Calibri"/>
              </a:defRPr>
            </a:pPr>
            <a: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1142</Words>
  <Application>Microsoft Office PowerPoint</Application>
  <PresentationFormat>Widescreen</PresentationFormat>
  <Paragraphs>197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David Ricciotti</dc:creator>
  <cp:keywords/>
  <dc:description>generated using python-pptx</dc:description>
  <cp:lastModifiedBy>David Ricciotti</cp:lastModifiedBy>
  <cp:revision>2</cp:revision>
  <dcterms:created xsi:type="dcterms:W3CDTF">2013-01-27T09:14:16Z</dcterms:created>
  <dcterms:modified xsi:type="dcterms:W3CDTF">2026-05-28T23:38:01Z</dcterms:modified>
  <cp:category/>
</cp:coreProperties>
</file>